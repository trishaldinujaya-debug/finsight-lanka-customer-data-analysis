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2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2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0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2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6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80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6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7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9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1E22E-BF3D-46B9-984C-83D3259FDF56}" type="datetimeFigureOut">
              <a:rPr lang="en-US" smtClean="0"/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CBA62-2611-4B32-8F38-A6ED3D65A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5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err="1" smtClean="0"/>
              <a:t>FinSight</a:t>
            </a:r>
            <a:r>
              <a:rPr lang="en-US" b="1" dirty="0" smtClean="0"/>
              <a:t> Lanka – Customer Data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5"/>
          </a:solidFill>
        </p:spPr>
        <p:txBody>
          <a:bodyPr/>
          <a:lstStyle/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/>
              <a:t>Analytics Trainee Assessment</a:t>
            </a:r>
          </a:p>
          <a:p>
            <a:pPr marL="0" indent="0" algn="ctr">
              <a:buNone/>
            </a:pPr>
            <a:r>
              <a:rPr lang="en-US" sz="2000" dirty="0" err="1" smtClean="0"/>
              <a:t>Dinujaya</a:t>
            </a:r>
            <a:r>
              <a:rPr lang="en-US" sz="2000" dirty="0" smtClean="0"/>
              <a:t> Fernando</a:t>
            </a:r>
          </a:p>
          <a:p>
            <a:pPr marL="0" indent="0" algn="ctr">
              <a:buNone/>
            </a:pPr>
            <a:r>
              <a:rPr lang="en-US" sz="2000" dirty="0" smtClean="0"/>
              <a:t>2026.05.25</a:t>
            </a:r>
          </a:p>
          <a:p>
            <a:pPr marL="0" indent="0" algn="ctr">
              <a:buNone/>
            </a:pPr>
            <a:r>
              <a:rPr lang="en-US" sz="2000" dirty="0" smtClean="0"/>
              <a:t>Dialog Finance PLC 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4351338"/>
          </a:xfr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1393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smtClean="0"/>
              <a:t>BUSINESS OBJECTIVE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Analyze customer savings behavior and financial patterns</a:t>
            </a:r>
          </a:p>
          <a:p>
            <a:r>
              <a:rPr lang="en-US" sz="2400" dirty="0" smtClean="0"/>
              <a:t>Evaluate loan portfolio performance and credit risk</a:t>
            </a:r>
          </a:p>
          <a:p>
            <a:r>
              <a:rPr lang="en-US" sz="2400" dirty="0" smtClean="0"/>
              <a:t>Identify digital engagement and mobile app usage</a:t>
            </a:r>
          </a:p>
          <a:p>
            <a:r>
              <a:rPr lang="en-US" sz="2400" dirty="0" smtClean="0"/>
              <a:t>Improve customer segmentation and targeting strategies</a:t>
            </a:r>
          </a:p>
          <a:p>
            <a:r>
              <a:rPr lang="en-US" sz="2400" dirty="0" smtClean="0"/>
              <a:t>Identify cross-sell opportunities for financial products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442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smtClean="0"/>
              <a:t>DATA CLEANING &amp; 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 sz="2400" dirty="0" smtClean="0"/>
              <a:t>Removed duplicate records to ensure data accuracy</a:t>
            </a:r>
          </a:p>
          <a:p>
            <a:r>
              <a:rPr lang="en-US" sz="2400" dirty="0" smtClean="0"/>
              <a:t>Handled missing and inconsistent values appropriately</a:t>
            </a:r>
          </a:p>
          <a:p>
            <a:r>
              <a:rPr lang="en-US" sz="2400" dirty="0" smtClean="0"/>
              <a:t>Validated financial fields such as loan and savings balances</a:t>
            </a:r>
          </a:p>
          <a:p>
            <a:r>
              <a:rPr lang="en-US" sz="2400" dirty="0" smtClean="0"/>
              <a:t>The analysis was performed using Google </a:t>
            </a:r>
            <a:r>
              <a:rPr lang="en-US" sz="2400" dirty="0" err="1" smtClean="0"/>
              <a:t>Colab</a:t>
            </a:r>
            <a:r>
              <a:rPr lang="en-US" sz="2400" dirty="0" smtClean="0"/>
              <a:t> as the development environment</a:t>
            </a:r>
          </a:p>
          <a:p>
            <a:r>
              <a:rPr lang="en-US" sz="2400" dirty="0" smtClean="0"/>
              <a:t>Libraries used: Panda</a:t>
            </a:r>
            <a:r>
              <a:rPr lang="en-US" sz="2400" b="1" dirty="0" smtClean="0"/>
              <a:t>s</a:t>
            </a:r>
            <a:r>
              <a:rPr lang="en-US" sz="2400" dirty="0" smtClean="0"/>
              <a:t> and </a:t>
            </a:r>
            <a:r>
              <a:rPr lang="en-US" sz="2400" dirty="0" err="1" smtClean="0"/>
              <a:t>NumPy</a:t>
            </a:r>
            <a:r>
              <a:rPr lang="en-US" sz="2400" dirty="0" smtClean="0"/>
              <a:t> for data cleaning and manipulation</a:t>
            </a:r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825625"/>
            <a:ext cx="5334000" cy="203466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995228"/>
            <a:ext cx="5334001" cy="218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5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smtClean="0"/>
              <a:t>Customer Savings Behavior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US" sz="2400" dirty="0" smtClean="0"/>
              <a:t>Mid-career customers (36–50) hold the highest total savings across all segments</a:t>
            </a:r>
          </a:p>
          <a:p>
            <a:r>
              <a:rPr lang="en-US" sz="2400" dirty="0" smtClean="0"/>
              <a:t>Urban customers show significantly higher average savings compared to rural customers</a:t>
            </a:r>
          </a:p>
          <a:p>
            <a:r>
              <a:rPr lang="en-US" sz="2400" dirty="0" smtClean="0"/>
              <a:t>Certain high-value customer segments demonstrate stronger financial stability and deposit behavior</a:t>
            </a:r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52" y="1825625"/>
            <a:ext cx="2211702" cy="208519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406" y="1863730"/>
            <a:ext cx="2505221" cy="20470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746" y="3910817"/>
            <a:ext cx="2105319" cy="208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2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smtClean="0"/>
              <a:t>Loan Portfolio &amp; Risk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US" sz="2400" dirty="0" smtClean="0"/>
              <a:t>Customers with high debt-to-savings ratios represent elevated financial risk exposure</a:t>
            </a:r>
          </a:p>
          <a:p>
            <a:r>
              <a:rPr lang="en-US" sz="2400" dirty="0" smtClean="0"/>
              <a:t>Default behavior varies across loan types, indicating differences in credit risk quality</a:t>
            </a:r>
          </a:p>
          <a:p>
            <a:r>
              <a:rPr lang="en-US" sz="2400" dirty="0" smtClean="0"/>
              <a:t>High-risk customers are often associated with lower savings and higher loan dependency</a:t>
            </a:r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50244"/>
            <a:ext cx="2316481" cy="206887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969" y="2046120"/>
            <a:ext cx="2475913" cy="17099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905" y="3838450"/>
            <a:ext cx="1908128" cy="16295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78879" y="5697547"/>
            <a:ext cx="5339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Debt-to-Savings Ratio = Loan Balance / Savings Balance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36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smtClean="0"/>
              <a:t>Digital Engagement &amp; Cross-Sell Opportunity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5"/>
          </a:solidFill>
        </p:spPr>
        <p:txBody>
          <a:bodyPr/>
          <a:lstStyle/>
          <a:p>
            <a:r>
              <a:rPr lang="en-US" sz="2400" dirty="0" smtClean="0"/>
              <a:t>Mobile app users maintain higher average savings balances compared to non-users</a:t>
            </a:r>
          </a:p>
          <a:p>
            <a:r>
              <a:rPr lang="en-US" sz="2400" dirty="0" smtClean="0"/>
              <a:t>Digital engagement is strongly correlated with higher customer lifetime value</a:t>
            </a:r>
          </a:p>
          <a:p>
            <a:r>
              <a:rPr lang="en-US" sz="2400" dirty="0" smtClean="0"/>
              <a:t>Digitally active customers demonstrate stronger financial engagement and product usage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904" y="1825625"/>
            <a:ext cx="2438888" cy="2265600"/>
          </a:xfrm>
        </p:spPr>
      </p:pic>
      <p:sp>
        <p:nvSpPr>
          <p:cNvPr id="6" name="Rectangle 5"/>
          <p:cNvSpPr/>
          <p:nvPr/>
        </p:nvSpPr>
        <p:spPr>
          <a:xfrm>
            <a:off x="6096000" y="48080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Cross-sell Rate = Customers with multiple products / Total customers × 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5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>
            <a:noAutofit/>
          </a:bodyPr>
          <a:lstStyle/>
          <a:p>
            <a:pPr algn="ctr"/>
            <a:r>
              <a:rPr lang="en-US" sz="4400" b="1" dirty="0" smtClean="0"/>
              <a:t>Key Performance Indicators (KPIs)</a:t>
            </a:r>
            <a:endParaRPr lang="en-US" sz="4400" b="1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7" r="14407"/>
          <a:stretch>
            <a:fillRect/>
          </a:stretch>
        </p:blipFill>
        <p:spPr>
          <a:xfrm>
            <a:off x="5225391" y="995363"/>
            <a:ext cx="6172200" cy="48736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solidFill>
            <a:schemeClr val="accent5"/>
          </a:solidFill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Total Savings Deposit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Loan Penetration Lending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Default Rate Risk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Mobile Adoption Digital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Cross-Sell Opportunity Revenue growth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83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smtClean="0"/>
              <a:t>Strategic Recommendations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Strengthen Digital Engagement Strategy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 smtClean="0"/>
              <a:t>Mobile app users demonstrate higher savings balances and stronger engagement</a:t>
            </a:r>
          </a:p>
          <a:p>
            <a:pPr marL="0" indent="0">
              <a:buNone/>
            </a:pPr>
            <a:r>
              <a:rPr lang="en-US" sz="2400" dirty="0" smtClean="0"/>
              <a:t>2. Expand Cross-Sell Programs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 Promote fixed deposits, loans, and insurance products to existing customers</a:t>
            </a:r>
          </a:p>
          <a:p>
            <a:pPr marL="0" indent="0">
              <a:buNone/>
            </a:pPr>
            <a:r>
              <a:rPr lang="en-US" sz="2400" dirty="0" smtClean="0"/>
              <a:t>3. Improve Credit Risk Monitoring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Implement early warning systems for risky borrowers</a:t>
            </a:r>
          </a:p>
          <a:p>
            <a:pPr marL="0" indent="0">
              <a:buNone/>
            </a:pPr>
            <a:r>
              <a:rPr lang="en-US" sz="2400" dirty="0" smtClean="0"/>
              <a:t>4. Enhance Customer Segmentation Strategy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smtClean="0"/>
              <a:t>Different customer groups show distinct financial behaviors across regions and age groups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886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smtClean="0"/>
              <a:t>Limitations &amp; Critical Evaluation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chemeClr val="accent5"/>
          </a:solidFill>
        </p:spPr>
        <p:txBody>
          <a:bodyPr/>
          <a:lstStyle/>
          <a:p>
            <a:pPr algn="ctr"/>
            <a:r>
              <a:rPr lang="en-US" dirty="0" smtClean="0"/>
              <a:t>Limitation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US" sz="2400" dirty="0" smtClean="0"/>
              <a:t>No transaction-level data</a:t>
            </a:r>
          </a:p>
          <a:p>
            <a:r>
              <a:rPr lang="en-US" sz="2400" dirty="0" smtClean="0"/>
              <a:t>Small dataset size (508 records) (Medium)</a:t>
            </a:r>
          </a:p>
          <a:p>
            <a:r>
              <a:rPr lang="en-US" sz="2400" dirty="0" smtClean="0"/>
              <a:t>Assumptions used for classification (Medium)</a:t>
            </a:r>
            <a:endParaRPr lang="en-US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solidFill>
            <a:schemeClr val="accent5"/>
          </a:solidFill>
        </p:spPr>
        <p:txBody>
          <a:bodyPr/>
          <a:lstStyle/>
          <a:p>
            <a:pPr algn="ctr"/>
            <a:r>
              <a:rPr lang="en-US" dirty="0" smtClean="0"/>
              <a:t>Impact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US" sz="2400" dirty="0" smtClean="0"/>
              <a:t>Limits behavioral trend analysis and customer activity insights</a:t>
            </a:r>
          </a:p>
          <a:p>
            <a:r>
              <a:rPr lang="en-US" sz="2400" dirty="0" smtClean="0"/>
              <a:t>Limits generalization to the wider population</a:t>
            </a:r>
          </a:p>
          <a:p>
            <a:r>
              <a:rPr lang="en-US" sz="2400" dirty="0" smtClean="0"/>
              <a:t>May reduce accuracy of savings and risk categorization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024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 smtClean="0"/>
              <a:t>FINAL 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US" sz="2400" dirty="0" smtClean="0"/>
              <a:t>This analysis provides a comprehensive view of customer savings behavior, loan risk, and digital engagement within </a:t>
            </a:r>
            <a:r>
              <a:rPr lang="en-US" sz="2400" dirty="0" err="1" smtClean="0"/>
              <a:t>FinSight</a:t>
            </a:r>
            <a:r>
              <a:rPr lang="en-US" sz="2400" dirty="0" smtClean="0"/>
              <a:t> Lanka</a:t>
            </a:r>
          </a:p>
          <a:p>
            <a:r>
              <a:rPr lang="en-US" sz="2400" dirty="0" smtClean="0"/>
              <a:t>Data-driven decision-making can significantly enhance customer value, operational efficiency, and overall business profitability</a:t>
            </a:r>
          </a:p>
          <a:p>
            <a:r>
              <a:rPr lang="en-US" sz="2400" dirty="0" smtClean="0"/>
              <a:t>The dashboard enables continuous monitoring of key financial and behavioral KPIs for better strategic planning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                                                              Thank You!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614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429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FinSight Lanka – Customer Data Analysis</vt:lpstr>
      <vt:lpstr>BUSINESS OBJECTIVE</vt:lpstr>
      <vt:lpstr>DATA CLEANING &amp; METHODOLOGY</vt:lpstr>
      <vt:lpstr>Customer Savings Behavior Analysis</vt:lpstr>
      <vt:lpstr>Loan Portfolio &amp; Risk Analysis</vt:lpstr>
      <vt:lpstr>Digital Engagement &amp; Cross-Sell Opportunity </vt:lpstr>
      <vt:lpstr>Key Performance Indicators (KPIs)</vt:lpstr>
      <vt:lpstr>Strategic Recommendations</vt:lpstr>
      <vt:lpstr>Limitations &amp; Critical Evaluation</vt:lpstr>
      <vt:lpstr>FINAL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15</cp:revision>
  <dcterms:created xsi:type="dcterms:W3CDTF">2026-05-25T02:33:45Z</dcterms:created>
  <dcterms:modified xsi:type="dcterms:W3CDTF">2026-05-25T05:09:54Z</dcterms:modified>
</cp:coreProperties>
</file>